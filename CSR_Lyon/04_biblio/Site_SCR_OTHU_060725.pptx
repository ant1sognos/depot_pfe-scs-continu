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7253B7-4E1E-4A8D-8816-669466E1BDDD}" v="56" dt="2025-07-06T19:40:57.2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468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FE7B69-80F4-B03A-2505-632F51150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F3C96E8-0CB4-FACA-EDFE-F80419C11F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166E94-82B9-20BB-A9EC-1B49C5B88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C7BB0-12EA-4F26-B2F2-8571A2EC0147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C35BCD-18BC-6F6A-242A-39C295612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09AB69-BA41-6D7A-949B-223CF8F4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5A5E5-6585-4A3A-B422-FE93EE0435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4214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1866EE-1F0B-4FB0-5074-07D7E18BC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5FB8E3-DCF3-96FC-F357-B293BBC2D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960046-6928-D892-8E78-A98311FF0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C7BB0-12EA-4F26-B2F2-8571A2EC0147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CB00E3-CE66-B038-6F95-BCD4E1728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2F27FF-2A3A-6046-3944-5FA979E1C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5A5E5-6585-4A3A-B422-FE93EE0435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794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FD8041-E380-5579-1C47-798DBF7B4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56D16E-2F44-E47B-A88B-0D5AD1C65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8C288B-D323-D846-EA63-5A41C77F9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C7BB0-12EA-4F26-B2F2-8571A2EC0147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C2AB65-31CB-EC9C-4C25-012F44AD6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C3CFF4-8F1F-342A-64C1-4636E85E7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5A5E5-6585-4A3A-B422-FE93EE0435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0349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A734EA-4D99-8B38-A880-67169A43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308323-C3DA-F271-0976-C72E6AA278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3A2CFA9-18D8-E283-762D-18F1DD27D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D2784E9-1792-0AF7-09B1-B7ECF332E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C7BB0-12EA-4F26-B2F2-8571A2EC0147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78F5821-EE23-D2D3-5F8B-A91C4791F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CC6BFF1-C636-E184-EB39-4ADE7B767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5A5E5-6585-4A3A-B422-FE93EE0435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934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FAA4BB-FE8E-F6FE-FB82-2A43DCA50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F2FCC7F-A2E4-CD5D-9C3C-36E48D62F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C0C966F-6D92-CCBA-DBA3-255670F2E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50C9199-C48E-D5D2-B688-E5B768BB9F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C72F4B4-DBCE-ABED-FD98-1E76828F8F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2A1FC2A-E777-DD33-9836-B1AC8596D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C7BB0-12EA-4F26-B2F2-8571A2EC0147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3A72D66-57AF-4D57-6832-1BA9E78B7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08C433D-3A41-4419-4B1F-43E90B7D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5A5E5-6585-4A3A-B422-FE93EE0435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6978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F89D34-8ACF-56A1-2B0A-5D7A74FA9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4FE1EC0-4E8A-9A24-54F7-55EFA6B1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C7BB0-12EA-4F26-B2F2-8571A2EC0147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1185883-F727-6AFE-3796-FA0C4B479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C424A6A-CA60-3901-1822-CDDFD4879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5A5E5-6585-4A3A-B422-FE93EE0435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2067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DC9228E-9B1E-3759-BEEE-A37DFCF63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C7BB0-12EA-4F26-B2F2-8571A2EC0147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46080A9-6BAD-F7F3-BBD2-C927DFDBE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4FB2F2E-A3C7-B241-F498-016AB7693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5A5E5-6585-4A3A-B422-FE93EE0435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099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4AF753-B4D3-54D2-2E67-C01AB992E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1735F0-28FF-5527-9B12-5B4194C23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EC919B-6433-3FE9-D897-F9BC0E745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60E2674-8076-782B-D160-C0DF01C88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C7BB0-12EA-4F26-B2F2-8571A2EC0147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8E4048C-8CC1-1594-2A36-2E56BD885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A051279-D2A4-7070-AA5B-C1437F99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5A5E5-6585-4A3A-B422-FE93EE0435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2125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AC012A-9A9E-A849-861A-D34FA8192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0818459-12DC-DD3A-FAF1-7DDDDB284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4991070-1B9E-8D71-FB50-B83097275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84CD601-8103-059C-5875-80C63C271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C7BB0-12EA-4F26-B2F2-8571A2EC0147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C79DAD8-2F8D-0EE9-AEB9-776483DF9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12ED10A-543F-9E1E-8DA0-630CE491A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5A5E5-6585-4A3A-B422-FE93EE0435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499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CBAF40-441E-6DD4-DF82-0ECEC0CDF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9C0CE81-274E-B43A-BE22-C3FEF89CC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2F628F-9DF0-A76D-2227-D8C6E2DA4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C7BB0-12EA-4F26-B2F2-8571A2EC0147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FD44A4-8239-803C-EEB8-15491C3EF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68921F-E291-E44F-F430-1DB882B6B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5A5E5-6585-4A3A-B422-FE93EE0435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394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FE2848C-E35F-9BCC-B7E9-8D2FE31903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B0FDD20-F2DF-4E1E-3864-42A0F018E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561579-29B5-BC16-C47A-8C478C255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C7BB0-12EA-4F26-B2F2-8571A2EC0147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66BDA6-7CFC-6B47-D529-122ACE9A2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84C7DD-F0E8-7DE7-E094-184A163A5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5A5E5-6585-4A3A-B422-FE93EE0435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6812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C7F5065-3FCD-1D60-1AC1-12FC3C92B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6832C6B-FE90-D8EF-4A4F-B0266024B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CF2849-246A-4BB6-2040-75B7BE3954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0C7BB0-12EA-4F26-B2F2-8571A2EC0147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2B3A34-21D6-C46C-0206-1CF0237EC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A4E19A-C70B-D99B-0A08-EB625490E1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D5A5E5-6585-4A3A-B422-FE93EE0435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0767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B20525CF-E261-33B2-E3E6-6677827DBE48}"/>
              </a:ext>
            </a:extLst>
          </p:cNvPr>
          <p:cNvGrpSpPr/>
          <p:nvPr/>
        </p:nvGrpSpPr>
        <p:grpSpPr>
          <a:xfrm>
            <a:off x="435428" y="1930853"/>
            <a:ext cx="8335282" cy="4065660"/>
            <a:chOff x="435428" y="1930853"/>
            <a:chExt cx="8335282" cy="4065660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9FA2D374-80B1-C212-81FE-4A5023876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5428" y="1930853"/>
              <a:ext cx="8335282" cy="4065660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4663E41-3A06-2474-1D95-1538A8BB3D69}"/>
                </a:ext>
              </a:extLst>
            </p:cNvPr>
            <p:cNvSpPr/>
            <p:nvPr/>
          </p:nvSpPr>
          <p:spPr>
            <a:xfrm>
              <a:off x="996769" y="4155447"/>
              <a:ext cx="7326630" cy="1257300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3829050"/>
                <a:gd name="connsiteY0" fmla="*/ 0 h 914400"/>
                <a:gd name="connsiteX1" fmla="*/ 3829050 w 3829050"/>
                <a:gd name="connsiteY1" fmla="*/ 137160 h 914400"/>
                <a:gd name="connsiteX2" fmla="*/ 914400 w 3829050"/>
                <a:gd name="connsiteY2" fmla="*/ 914400 h 914400"/>
                <a:gd name="connsiteX3" fmla="*/ 0 w 3829050"/>
                <a:gd name="connsiteY3" fmla="*/ 914400 h 914400"/>
                <a:gd name="connsiteX4" fmla="*/ 0 w 3829050"/>
                <a:gd name="connsiteY4" fmla="*/ 0 h 914400"/>
                <a:gd name="connsiteX0" fmla="*/ 0 w 5017770"/>
                <a:gd name="connsiteY0" fmla="*/ 0 h 1257300"/>
                <a:gd name="connsiteX1" fmla="*/ 3829050 w 5017770"/>
                <a:gd name="connsiteY1" fmla="*/ 137160 h 1257300"/>
                <a:gd name="connsiteX2" fmla="*/ 5017770 w 5017770"/>
                <a:gd name="connsiteY2" fmla="*/ 1257300 h 1257300"/>
                <a:gd name="connsiteX3" fmla="*/ 0 w 5017770"/>
                <a:gd name="connsiteY3" fmla="*/ 914400 h 1257300"/>
                <a:gd name="connsiteX4" fmla="*/ 0 w 5017770"/>
                <a:gd name="connsiteY4" fmla="*/ 0 h 1257300"/>
                <a:gd name="connsiteX0" fmla="*/ 2308860 w 7326630"/>
                <a:gd name="connsiteY0" fmla="*/ 0 h 1257300"/>
                <a:gd name="connsiteX1" fmla="*/ 6137910 w 7326630"/>
                <a:gd name="connsiteY1" fmla="*/ 137160 h 1257300"/>
                <a:gd name="connsiteX2" fmla="*/ 7326630 w 7326630"/>
                <a:gd name="connsiteY2" fmla="*/ 1257300 h 1257300"/>
                <a:gd name="connsiteX3" fmla="*/ 0 w 7326630"/>
                <a:gd name="connsiteY3" fmla="*/ 548640 h 1257300"/>
                <a:gd name="connsiteX4" fmla="*/ 2308860 w 7326630"/>
                <a:gd name="connsiteY4" fmla="*/ 0 h 125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26630" h="1257300">
                  <a:moveTo>
                    <a:pt x="2308860" y="0"/>
                  </a:moveTo>
                  <a:lnTo>
                    <a:pt x="6137910" y="137160"/>
                  </a:lnTo>
                  <a:lnTo>
                    <a:pt x="7326630" y="1257300"/>
                  </a:lnTo>
                  <a:lnTo>
                    <a:pt x="0" y="548640"/>
                  </a:lnTo>
                  <a:lnTo>
                    <a:pt x="2308860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4AB4FA83-6FB3-CE08-0616-0A8451F4B6EF}"/>
                </a:ext>
              </a:extLst>
            </p:cNvPr>
            <p:cNvSpPr/>
            <p:nvPr/>
          </p:nvSpPr>
          <p:spPr>
            <a:xfrm>
              <a:off x="3261405" y="3927986"/>
              <a:ext cx="3883660" cy="357080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3829050"/>
                <a:gd name="connsiteY0" fmla="*/ 0 h 914400"/>
                <a:gd name="connsiteX1" fmla="*/ 3829050 w 3829050"/>
                <a:gd name="connsiteY1" fmla="*/ 137160 h 914400"/>
                <a:gd name="connsiteX2" fmla="*/ 914400 w 3829050"/>
                <a:gd name="connsiteY2" fmla="*/ 914400 h 914400"/>
                <a:gd name="connsiteX3" fmla="*/ 0 w 3829050"/>
                <a:gd name="connsiteY3" fmla="*/ 914400 h 914400"/>
                <a:gd name="connsiteX4" fmla="*/ 0 w 3829050"/>
                <a:gd name="connsiteY4" fmla="*/ 0 h 914400"/>
                <a:gd name="connsiteX0" fmla="*/ 0 w 5017770"/>
                <a:gd name="connsiteY0" fmla="*/ 0 h 1257300"/>
                <a:gd name="connsiteX1" fmla="*/ 3829050 w 5017770"/>
                <a:gd name="connsiteY1" fmla="*/ 137160 h 1257300"/>
                <a:gd name="connsiteX2" fmla="*/ 5017770 w 5017770"/>
                <a:gd name="connsiteY2" fmla="*/ 1257300 h 1257300"/>
                <a:gd name="connsiteX3" fmla="*/ 0 w 5017770"/>
                <a:gd name="connsiteY3" fmla="*/ 914400 h 1257300"/>
                <a:gd name="connsiteX4" fmla="*/ 0 w 5017770"/>
                <a:gd name="connsiteY4" fmla="*/ 0 h 1257300"/>
                <a:gd name="connsiteX0" fmla="*/ 2308860 w 7326630"/>
                <a:gd name="connsiteY0" fmla="*/ 0 h 1257300"/>
                <a:gd name="connsiteX1" fmla="*/ 6137910 w 7326630"/>
                <a:gd name="connsiteY1" fmla="*/ 137160 h 1257300"/>
                <a:gd name="connsiteX2" fmla="*/ 7326630 w 7326630"/>
                <a:gd name="connsiteY2" fmla="*/ 1257300 h 1257300"/>
                <a:gd name="connsiteX3" fmla="*/ 0 w 7326630"/>
                <a:gd name="connsiteY3" fmla="*/ 548640 h 1257300"/>
                <a:gd name="connsiteX4" fmla="*/ 2308860 w 7326630"/>
                <a:gd name="connsiteY4" fmla="*/ 0 h 1257300"/>
                <a:gd name="connsiteX0" fmla="*/ 2308860 w 6515100"/>
                <a:gd name="connsiteY0" fmla="*/ 0 h 1257300"/>
                <a:gd name="connsiteX1" fmla="*/ 6137910 w 6515100"/>
                <a:gd name="connsiteY1" fmla="*/ 137160 h 1257300"/>
                <a:gd name="connsiteX2" fmla="*/ 6515100 w 6515100"/>
                <a:gd name="connsiteY2" fmla="*/ 1257300 h 1257300"/>
                <a:gd name="connsiteX3" fmla="*/ 0 w 6515100"/>
                <a:gd name="connsiteY3" fmla="*/ 548640 h 1257300"/>
                <a:gd name="connsiteX4" fmla="*/ 2308860 w 6515100"/>
                <a:gd name="connsiteY4" fmla="*/ 0 h 1257300"/>
                <a:gd name="connsiteX0" fmla="*/ 3721100 w 6515100"/>
                <a:gd name="connsiteY0" fmla="*/ 118460 h 1120140"/>
                <a:gd name="connsiteX1" fmla="*/ 6137910 w 6515100"/>
                <a:gd name="connsiteY1" fmla="*/ 0 h 1120140"/>
                <a:gd name="connsiteX2" fmla="*/ 6515100 w 6515100"/>
                <a:gd name="connsiteY2" fmla="*/ 1120140 h 1120140"/>
                <a:gd name="connsiteX3" fmla="*/ 0 w 6515100"/>
                <a:gd name="connsiteY3" fmla="*/ 411480 h 1120140"/>
                <a:gd name="connsiteX4" fmla="*/ 3721100 w 6515100"/>
                <a:gd name="connsiteY4" fmla="*/ 118460 h 1120140"/>
                <a:gd name="connsiteX0" fmla="*/ 1079500 w 3873500"/>
                <a:gd name="connsiteY0" fmla="*/ 118460 h 1120140"/>
                <a:gd name="connsiteX1" fmla="*/ 3496310 w 3873500"/>
                <a:gd name="connsiteY1" fmla="*/ 0 h 1120140"/>
                <a:gd name="connsiteX2" fmla="*/ 3873500 w 3873500"/>
                <a:gd name="connsiteY2" fmla="*/ 1120140 h 1120140"/>
                <a:gd name="connsiteX3" fmla="*/ 0 w 3873500"/>
                <a:gd name="connsiteY3" fmla="*/ 654928 h 1120140"/>
                <a:gd name="connsiteX4" fmla="*/ 1079500 w 3873500"/>
                <a:gd name="connsiteY4" fmla="*/ 118460 h 1120140"/>
                <a:gd name="connsiteX0" fmla="*/ 1079500 w 3873500"/>
                <a:gd name="connsiteY0" fmla="*/ 0 h 1001680"/>
                <a:gd name="connsiteX1" fmla="*/ 3486150 w 3873500"/>
                <a:gd name="connsiteY1" fmla="*/ 124987 h 1001680"/>
                <a:gd name="connsiteX2" fmla="*/ 3873500 w 3873500"/>
                <a:gd name="connsiteY2" fmla="*/ 1001680 h 1001680"/>
                <a:gd name="connsiteX3" fmla="*/ 0 w 3873500"/>
                <a:gd name="connsiteY3" fmla="*/ 536468 h 1001680"/>
                <a:gd name="connsiteX4" fmla="*/ 1079500 w 3873500"/>
                <a:gd name="connsiteY4" fmla="*/ 0 h 1001680"/>
                <a:gd name="connsiteX0" fmla="*/ 1079500 w 3898900"/>
                <a:gd name="connsiteY0" fmla="*/ 0 h 1001680"/>
                <a:gd name="connsiteX1" fmla="*/ 3486150 w 3898900"/>
                <a:gd name="connsiteY1" fmla="*/ 124987 h 1001680"/>
                <a:gd name="connsiteX2" fmla="*/ 3898900 w 3898900"/>
                <a:gd name="connsiteY2" fmla="*/ 1001680 h 1001680"/>
                <a:gd name="connsiteX3" fmla="*/ 0 w 3898900"/>
                <a:gd name="connsiteY3" fmla="*/ 536468 h 1001680"/>
                <a:gd name="connsiteX4" fmla="*/ 1079500 w 3898900"/>
                <a:gd name="connsiteY4" fmla="*/ 0 h 1001680"/>
                <a:gd name="connsiteX0" fmla="*/ 1079500 w 3883660"/>
                <a:gd name="connsiteY0" fmla="*/ 0 h 855612"/>
                <a:gd name="connsiteX1" fmla="*/ 3486150 w 3883660"/>
                <a:gd name="connsiteY1" fmla="*/ 124987 h 855612"/>
                <a:gd name="connsiteX2" fmla="*/ 3883660 w 3883660"/>
                <a:gd name="connsiteY2" fmla="*/ 855612 h 855612"/>
                <a:gd name="connsiteX3" fmla="*/ 0 w 3883660"/>
                <a:gd name="connsiteY3" fmla="*/ 536468 h 855612"/>
                <a:gd name="connsiteX4" fmla="*/ 1079500 w 3883660"/>
                <a:gd name="connsiteY4" fmla="*/ 0 h 855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3660" h="855612">
                  <a:moveTo>
                    <a:pt x="1079500" y="0"/>
                  </a:moveTo>
                  <a:lnTo>
                    <a:pt x="3486150" y="124987"/>
                  </a:lnTo>
                  <a:lnTo>
                    <a:pt x="3883660" y="855612"/>
                  </a:lnTo>
                  <a:lnTo>
                    <a:pt x="0" y="536468"/>
                  </a:lnTo>
                  <a:lnTo>
                    <a:pt x="1079500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AE268CF-2079-D7C5-BCFD-0C071F7F1272}"/>
              </a:ext>
            </a:extLst>
          </p:cNvPr>
          <p:cNvSpPr/>
          <p:nvPr/>
        </p:nvSpPr>
        <p:spPr>
          <a:xfrm>
            <a:off x="9133247" y="5342955"/>
            <a:ext cx="2627086" cy="926631"/>
          </a:xfrm>
          <a:prstGeom prst="rect">
            <a:avLst/>
          </a:prstGeom>
          <a:blipFill dpi="0" rotWithShape="1">
            <a:blip r:embed="rId3">
              <a:alphaModFix amt="51000"/>
            </a:blip>
            <a:srcRect/>
            <a:tile tx="0" ty="0" sx="100000" sy="100000" flip="none" algn="tl"/>
          </a:blipFill>
          <a:ln>
            <a:noFill/>
          </a:ln>
          <a:effectLst>
            <a:outerShdw blurRad="50800" dist="50800" dir="5400000" algn="ctr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3297B325-8EA1-0EA2-1D04-48EF476C4F6E}"/>
              </a:ext>
            </a:extLst>
          </p:cNvPr>
          <p:cNvCxnSpPr/>
          <p:nvPr/>
        </p:nvCxnSpPr>
        <p:spPr>
          <a:xfrm>
            <a:off x="9129486" y="6269586"/>
            <a:ext cx="262708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4DB9AA9C-F5C0-C969-1DAC-BEEDF8F89501}"/>
              </a:ext>
            </a:extLst>
          </p:cNvPr>
          <p:cNvSpPr txBox="1"/>
          <p:nvPr/>
        </p:nvSpPr>
        <p:spPr>
          <a:xfrm>
            <a:off x="177703" y="857680"/>
            <a:ext cx="120142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Type : Parking </a:t>
            </a:r>
            <a:r>
              <a:rPr lang="en-US" sz="2400" dirty="0" err="1"/>
              <a:t>asphalte</a:t>
            </a:r>
            <a:r>
              <a:rPr lang="en-US" sz="2400" dirty="0"/>
              <a:t> (</a:t>
            </a:r>
            <a:r>
              <a:rPr lang="en-US" sz="2400" b="1" dirty="0" err="1"/>
              <a:t>Référence</a:t>
            </a:r>
            <a:r>
              <a:rPr lang="en-US" sz="2400" dirty="0"/>
              <a:t>) et parking avec chaussée à structure </a:t>
            </a:r>
            <a:r>
              <a:rPr lang="en-US" sz="2400" dirty="0" err="1"/>
              <a:t>réservoir</a:t>
            </a:r>
            <a:r>
              <a:rPr lang="en-US" sz="2400" dirty="0"/>
              <a:t> (</a:t>
            </a:r>
            <a:r>
              <a:rPr lang="en-US" sz="2400" b="1" dirty="0"/>
              <a:t>CSR</a:t>
            </a:r>
            <a:r>
              <a:rPr lang="en-US" sz="2400" dirty="0"/>
              <a:t>)</a:t>
            </a:r>
          </a:p>
          <a:p>
            <a:r>
              <a:rPr lang="en-US" sz="2400" dirty="0"/>
              <a:t>Surface de </a:t>
            </a:r>
            <a:r>
              <a:rPr lang="en-US" sz="2400" dirty="0" err="1"/>
              <a:t>chaque</a:t>
            </a:r>
            <a:r>
              <a:rPr lang="en-US" sz="2400" dirty="0"/>
              <a:t> </a:t>
            </a:r>
            <a:r>
              <a:rPr lang="en-US" sz="2400" dirty="0" err="1"/>
              <a:t>ouvrage</a:t>
            </a:r>
            <a:r>
              <a:rPr lang="en-US" sz="2400" dirty="0"/>
              <a:t>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sz="2400" dirty="0"/>
              <a:t>94m², L = 10.8 m, l = 8.7 m </a:t>
            </a:r>
            <a:endParaRPr lang="fr-FR" sz="2400" dirty="0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35ADD6B5-C60F-E4FB-9501-7F3C5897E55C}"/>
              </a:ext>
            </a:extLst>
          </p:cNvPr>
          <p:cNvCxnSpPr>
            <a:cxnSpLocks/>
          </p:cNvCxnSpPr>
          <p:nvPr/>
        </p:nvCxnSpPr>
        <p:spPr>
          <a:xfrm flipH="1">
            <a:off x="6516914" y="1930853"/>
            <a:ext cx="2931886" cy="2032830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3C7FDCA8-E7B9-C448-C334-BB05D70E6E2F}"/>
              </a:ext>
            </a:extLst>
          </p:cNvPr>
          <p:cNvCxnSpPr>
            <a:cxnSpLocks/>
          </p:cNvCxnSpPr>
          <p:nvPr/>
        </p:nvCxnSpPr>
        <p:spPr>
          <a:xfrm flipH="1">
            <a:off x="7090229" y="3429000"/>
            <a:ext cx="2460171" cy="1551098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51A2AFF0-4615-EDBE-16AF-70A68F6B1E65}"/>
              </a:ext>
            </a:extLst>
          </p:cNvPr>
          <p:cNvSpPr txBox="1"/>
          <p:nvPr/>
        </p:nvSpPr>
        <p:spPr>
          <a:xfrm>
            <a:off x="9550400" y="1407633"/>
            <a:ext cx="17637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Référence</a:t>
            </a:r>
            <a:endParaRPr lang="fr-FR" sz="28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DF28C4F-5995-563E-B7DD-D45CB45F4CCB}"/>
              </a:ext>
            </a:extLst>
          </p:cNvPr>
          <p:cNvSpPr txBox="1"/>
          <p:nvPr/>
        </p:nvSpPr>
        <p:spPr>
          <a:xfrm>
            <a:off x="9696354" y="3167390"/>
            <a:ext cx="854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CSR</a:t>
            </a:r>
            <a:endParaRPr lang="fr-FR" sz="28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84E525-57F9-55F2-4623-310ADEF36D05}"/>
              </a:ext>
            </a:extLst>
          </p:cNvPr>
          <p:cNvSpPr/>
          <p:nvPr/>
        </p:nvSpPr>
        <p:spPr>
          <a:xfrm>
            <a:off x="9129486" y="4980098"/>
            <a:ext cx="2627086" cy="3466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4A3F2A9-F042-2505-2CB8-0CEC208250F8}"/>
              </a:ext>
            </a:extLst>
          </p:cNvPr>
          <p:cNvSpPr txBox="1"/>
          <p:nvPr/>
        </p:nvSpPr>
        <p:spPr>
          <a:xfrm>
            <a:off x="9129486" y="4984143"/>
            <a:ext cx="2022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Béton </a:t>
            </a:r>
            <a:r>
              <a:rPr lang="en-US" sz="1600" dirty="0" err="1"/>
              <a:t>poreux</a:t>
            </a:r>
            <a:r>
              <a:rPr lang="en-US" sz="1600" dirty="0"/>
              <a:t> (15cm)</a:t>
            </a:r>
            <a:endParaRPr lang="fr-FR" sz="16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EDA8D6B-8402-0229-70A1-F28817216E04}"/>
              </a:ext>
            </a:extLst>
          </p:cNvPr>
          <p:cNvSpPr txBox="1"/>
          <p:nvPr/>
        </p:nvSpPr>
        <p:spPr>
          <a:xfrm>
            <a:off x="9129486" y="5367879"/>
            <a:ext cx="20314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Gravier 20/50 (30cm)</a:t>
            </a:r>
            <a:endParaRPr lang="fr-FR" sz="1600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FA49F1AB-62E0-9F66-0B3F-ECF204CA143F}"/>
              </a:ext>
            </a:extLst>
          </p:cNvPr>
          <p:cNvSpPr/>
          <p:nvPr/>
        </p:nvSpPr>
        <p:spPr>
          <a:xfrm>
            <a:off x="10350397" y="6159757"/>
            <a:ext cx="198797" cy="20023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673E7ED-AF5D-1B96-F93E-B9A615EE9AB2}"/>
              </a:ext>
            </a:extLst>
          </p:cNvPr>
          <p:cNvSpPr txBox="1"/>
          <p:nvPr/>
        </p:nvSpPr>
        <p:spPr>
          <a:xfrm>
            <a:off x="10525510" y="5964419"/>
            <a:ext cx="6610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Drain</a:t>
            </a:r>
            <a:endParaRPr lang="fr-FR" sz="16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257A092-A4EE-8989-E40F-A992BE6E5B43}"/>
              </a:ext>
            </a:extLst>
          </p:cNvPr>
          <p:cNvSpPr txBox="1"/>
          <p:nvPr/>
        </p:nvSpPr>
        <p:spPr>
          <a:xfrm>
            <a:off x="9037634" y="6229186"/>
            <a:ext cx="11031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Géomembrane</a:t>
            </a:r>
            <a:endParaRPr lang="fr-FR" sz="11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F8FB262-F5DF-1B44-EB70-5DF80E54CE67}"/>
              </a:ext>
            </a:extLst>
          </p:cNvPr>
          <p:cNvSpPr txBox="1"/>
          <p:nvPr/>
        </p:nvSpPr>
        <p:spPr>
          <a:xfrm>
            <a:off x="236005" y="153839"/>
            <a:ext cx="2824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Site expérimentale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4C1E9500-8270-B515-2630-CAAF6FBBA7C4}"/>
              </a:ext>
            </a:extLst>
          </p:cNvPr>
          <p:cNvCxnSpPr/>
          <p:nvPr/>
        </p:nvCxnSpPr>
        <p:spPr>
          <a:xfrm>
            <a:off x="11409680" y="4439920"/>
            <a:ext cx="0" cy="126651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77B8886C-060E-30D1-07E9-08C1EC4CDA47}"/>
              </a:ext>
            </a:extLst>
          </p:cNvPr>
          <p:cNvCxnSpPr>
            <a:cxnSpLocks/>
          </p:cNvCxnSpPr>
          <p:nvPr/>
        </p:nvCxnSpPr>
        <p:spPr>
          <a:xfrm flipH="1">
            <a:off x="10474960" y="5654040"/>
            <a:ext cx="934720" cy="57335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1C104BC-45EA-032C-EA29-0D94E594EA9C}"/>
              </a:ext>
            </a:extLst>
          </p:cNvPr>
          <p:cNvSpPr txBox="1"/>
          <p:nvPr/>
        </p:nvSpPr>
        <p:spPr>
          <a:xfrm>
            <a:off x="10973889" y="3900040"/>
            <a:ext cx="958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Pluie</a:t>
            </a:r>
          </a:p>
        </p:txBody>
      </p:sp>
    </p:spTree>
    <p:extLst>
      <p:ext uri="{BB962C8B-B14F-4D97-AF65-F5344CB8AC3E}">
        <p14:creationId xmlns:p14="http://schemas.microsoft.com/office/powerpoint/2010/main" val="1683544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4E61A15-1096-A964-EF3F-611F28D05B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08" t="18042" r="8990" b="17449"/>
          <a:stretch>
            <a:fillRect/>
          </a:stretch>
        </p:blipFill>
        <p:spPr>
          <a:xfrm>
            <a:off x="445589" y="2317933"/>
            <a:ext cx="5029381" cy="3454400"/>
          </a:xfrm>
          <a:prstGeom prst="rect">
            <a:avLst/>
          </a:prstGeo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407E549C-1CF4-B663-B407-329255EF2DFF}"/>
              </a:ext>
            </a:extLst>
          </p:cNvPr>
          <p:cNvCxnSpPr>
            <a:cxnSpLocks/>
          </p:cNvCxnSpPr>
          <p:nvPr/>
        </p:nvCxnSpPr>
        <p:spPr>
          <a:xfrm flipH="1">
            <a:off x="1146630" y="1775479"/>
            <a:ext cx="2931886" cy="2032830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F0ED5CB4-C16E-C456-D75E-DDA3EA96E1FC}"/>
              </a:ext>
            </a:extLst>
          </p:cNvPr>
          <p:cNvCxnSpPr>
            <a:cxnSpLocks/>
          </p:cNvCxnSpPr>
          <p:nvPr/>
        </p:nvCxnSpPr>
        <p:spPr>
          <a:xfrm flipH="1">
            <a:off x="3737431" y="1653902"/>
            <a:ext cx="2460171" cy="1551098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B67A7A85-BC5D-71E1-8E61-1CCDF9396AC2}"/>
              </a:ext>
            </a:extLst>
          </p:cNvPr>
          <p:cNvSpPr txBox="1"/>
          <p:nvPr/>
        </p:nvSpPr>
        <p:spPr>
          <a:xfrm>
            <a:off x="3446330" y="1091054"/>
            <a:ext cx="30423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noProof="0"/>
              <a:t>Chambres de mesure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9FED715-844D-F204-C3E1-8BCCDD93AF82}"/>
              </a:ext>
            </a:extLst>
          </p:cNvPr>
          <p:cNvSpPr txBox="1"/>
          <p:nvPr/>
        </p:nvSpPr>
        <p:spPr>
          <a:xfrm>
            <a:off x="7337688" y="615504"/>
            <a:ext cx="4732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0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8B59C75-F5FE-4BA0-CF6F-A8FCEEC1C3BC}"/>
              </a:ext>
            </a:extLst>
          </p:cNvPr>
          <p:cNvSpPr txBox="1"/>
          <p:nvPr/>
        </p:nvSpPr>
        <p:spPr>
          <a:xfrm>
            <a:off x="236005" y="153839"/>
            <a:ext cx="1436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Données</a:t>
            </a:r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91C1C165-FAD3-3E1D-8C83-6EF734716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579380"/>
              </p:ext>
            </p:extLst>
          </p:nvPr>
        </p:nvGraphicFramePr>
        <p:xfrm>
          <a:off x="5712463" y="2706553"/>
          <a:ext cx="6151880" cy="2961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6677">
                  <a:extLst>
                    <a:ext uri="{9D8B030D-6E8A-4147-A177-3AD203B41FA5}">
                      <a16:colId xmlns:a16="http://schemas.microsoft.com/office/drawing/2014/main" val="1967623565"/>
                    </a:ext>
                  </a:extLst>
                </a:gridCol>
                <a:gridCol w="1436373">
                  <a:extLst>
                    <a:ext uri="{9D8B030D-6E8A-4147-A177-3AD203B41FA5}">
                      <a16:colId xmlns:a16="http://schemas.microsoft.com/office/drawing/2014/main" val="784925377"/>
                    </a:ext>
                  </a:extLst>
                </a:gridCol>
                <a:gridCol w="2068830">
                  <a:extLst>
                    <a:ext uri="{9D8B030D-6E8A-4147-A177-3AD203B41FA5}">
                      <a16:colId xmlns:a16="http://schemas.microsoft.com/office/drawing/2014/main" val="25673125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err="1"/>
                        <a:t>Δt</a:t>
                      </a:r>
                      <a:r>
                        <a:rPr lang="fr-FR" sz="1800" dirty="0"/>
                        <a:t> (min)</a:t>
                      </a:r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Période dispo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397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Pluie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5675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Q ruissellement (Réf)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2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175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Q infiltré (</a:t>
                      </a:r>
                      <a:r>
                        <a:rPr lang="fr-FR" sz="1800" dirty="0" err="1"/>
                        <a:t>SCR</a:t>
                      </a:r>
                      <a:r>
                        <a:rPr lang="fr-FR" sz="1800" dirty="0"/>
                        <a:t>) </a:t>
                      </a:r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2  </a:t>
                      </a:r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2022-2024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111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Rayonnement net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1 </a:t>
                      </a:r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368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T° de l’air </a:t>
                      </a:r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1  </a:t>
                      </a:r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4000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Humidité de l’air </a:t>
                      </a:r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1  </a:t>
                      </a:r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996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Vitesse du vent </a:t>
                      </a:r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1  </a:t>
                      </a:r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628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4560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354E34C2-0D81-465E-AAB3-173913D4C496}"/>
              </a:ext>
            </a:extLst>
          </p:cNvPr>
          <p:cNvSpPr txBox="1"/>
          <p:nvPr/>
        </p:nvSpPr>
        <p:spPr>
          <a:xfrm>
            <a:off x="236005" y="153839"/>
            <a:ext cx="86823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Exemple de chronique – débit réf - 14/08/2022  au 21/08/2022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0DAB235-C57E-3B39-C262-D7D1B15CB5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32"/>
          <a:stretch>
            <a:fillRect/>
          </a:stretch>
        </p:blipFill>
        <p:spPr>
          <a:xfrm>
            <a:off x="236004" y="1056641"/>
            <a:ext cx="11751827" cy="5374640"/>
          </a:xfrm>
          <a:prstGeom prst="rect">
            <a:avLst/>
          </a:prstGeom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73284A0C-437B-0669-026A-F859D7D9FB5E}"/>
              </a:ext>
            </a:extLst>
          </p:cNvPr>
          <p:cNvCxnSpPr>
            <a:cxnSpLocks/>
          </p:cNvCxnSpPr>
          <p:nvPr/>
        </p:nvCxnSpPr>
        <p:spPr>
          <a:xfrm flipH="1">
            <a:off x="1934754" y="3429000"/>
            <a:ext cx="595086" cy="768363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4DAFEF7D-7146-2046-A717-3D612F8D3D27}"/>
              </a:ext>
            </a:extLst>
          </p:cNvPr>
          <p:cNvCxnSpPr>
            <a:cxnSpLocks/>
          </p:cNvCxnSpPr>
          <p:nvPr/>
        </p:nvCxnSpPr>
        <p:spPr>
          <a:xfrm flipH="1">
            <a:off x="6096000" y="1640840"/>
            <a:ext cx="595086" cy="768363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489A7BDE-A236-DD5B-2C0D-3659AA6BA955}"/>
              </a:ext>
            </a:extLst>
          </p:cNvPr>
          <p:cNvCxnSpPr>
            <a:cxnSpLocks/>
          </p:cNvCxnSpPr>
          <p:nvPr/>
        </p:nvCxnSpPr>
        <p:spPr>
          <a:xfrm flipH="1">
            <a:off x="7010400" y="1945640"/>
            <a:ext cx="595086" cy="768363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16552291-6E64-2D6B-3CB1-0B0A34BCE32C}"/>
              </a:ext>
            </a:extLst>
          </p:cNvPr>
          <p:cNvCxnSpPr>
            <a:cxnSpLocks/>
          </p:cNvCxnSpPr>
          <p:nvPr/>
        </p:nvCxnSpPr>
        <p:spPr>
          <a:xfrm flipH="1">
            <a:off x="8709150" y="2658123"/>
            <a:ext cx="595086" cy="768363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E991F3BA-BB28-4725-0A99-DEE02415335C}"/>
              </a:ext>
            </a:extLst>
          </p:cNvPr>
          <p:cNvCxnSpPr>
            <a:cxnSpLocks/>
          </p:cNvCxnSpPr>
          <p:nvPr/>
        </p:nvCxnSpPr>
        <p:spPr>
          <a:xfrm flipH="1">
            <a:off x="9304236" y="3044818"/>
            <a:ext cx="595086" cy="768363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3AB374F-69F3-2A44-8935-52EA3B26B98F}"/>
              </a:ext>
            </a:extLst>
          </p:cNvPr>
          <p:cNvSpPr/>
          <p:nvPr/>
        </p:nvSpPr>
        <p:spPr>
          <a:xfrm>
            <a:off x="8280400" y="4003040"/>
            <a:ext cx="751840" cy="12395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08FF5C6-409C-9EC7-6AF5-1787EF4208A8}"/>
              </a:ext>
            </a:extLst>
          </p:cNvPr>
          <p:cNvSpPr txBox="1"/>
          <p:nvPr/>
        </p:nvSpPr>
        <p:spPr>
          <a:xfrm>
            <a:off x="2529840" y="2744366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6.2 mm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CECBA3D-93AB-4456-A369-253CC9F79368}"/>
              </a:ext>
            </a:extLst>
          </p:cNvPr>
          <p:cNvSpPr txBox="1"/>
          <p:nvPr/>
        </p:nvSpPr>
        <p:spPr>
          <a:xfrm>
            <a:off x="6838904" y="1319837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1.3 mm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F0A8D75-2205-3909-3793-369185083E87}"/>
              </a:ext>
            </a:extLst>
          </p:cNvPr>
          <p:cNvSpPr txBox="1"/>
          <p:nvPr/>
        </p:nvSpPr>
        <p:spPr>
          <a:xfrm>
            <a:off x="7647641" y="1697850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12.7 mm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A84B21F-C644-6F9F-32EA-8981C85458DE}"/>
              </a:ext>
            </a:extLst>
          </p:cNvPr>
          <p:cNvSpPr txBox="1"/>
          <p:nvPr/>
        </p:nvSpPr>
        <p:spPr>
          <a:xfrm>
            <a:off x="9265904" y="2270252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0.8 mm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AA504D7-24D5-E633-A676-E9DD47EC2482}"/>
              </a:ext>
            </a:extLst>
          </p:cNvPr>
          <p:cNvSpPr txBox="1"/>
          <p:nvPr/>
        </p:nvSpPr>
        <p:spPr>
          <a:xfrm>
            <a:off x="9938861" y="2671915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2.4 mm</a:t>
            </a:r>
          </a:p>
        </p:txBody>
      </p:sp>
    </p:spTree>
    <p:extLst>
      <p:ext uri="{BB962C8B-B14F-4D97-AF65-F5344CB8AC3E}">
        <p14:creationId xmlns:p14="http://schemas.microsoft.com/office/powerpoint/2010/main" val="553182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50149-6BD7-8D15-7FE6-5F3AD7179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02A598A-709C-E1EB-EA4E-5ED8950EFAF8}"/>
              </a:ext>
            </a:extLst>
          </p:cNvPr>
          <p:cNvSpPr txBox="1"/>
          <p:nvPr/>
        </p:nvSpPr>
        <p:spPr>
          <a:xfrm>
            <a:off x="236005" y="153839"/>
            <a:ext cx="100641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Exemple de chronique – débit </a:t>
            </a:r>
            <a:r>
              <a:rPr lang="fr-FR" sz="24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SCR</a:t>
            </a:r>
            <a:r>
              <a:rPr lang="fr-FR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(infiltré) - 14/08/2022  au 21/08/2022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53D1B8B-582B-21C2-AD7A-85DA6E289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91" y="985520"/>
            <a:ext cx="11456218" cy="504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28536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131</Words>
  <Application>Microsoft Office PowerPoint</Application>
  <PresentationFormat>Grand écran</PresentationFormat>
  <Paragraphs>42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Violeta Montoya</dc:creator>
  <cp:lastModifiedBy>Violeta Montoya</cp:lastModifiedBy>
  <cp:revision>2</cp:revision>
  <dcterms:created xsi:type="dcterms:W3CDTF">2025-07-03T15:16:35Z</dcterms:created>
  <dcterms:modified xsi:type="dcterms:W3CDTF">2025-12-09T15:33:52Z</dcterms:modified>
</cp:coreProperties>
</file>